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4610"/>
  </p:normalViewPr>
  <p:slideViewPr>
    <p:cSldViewPr snapToGrid="0" snapToObjects="1">
      <p:cViewPr>
        <p:scale>
          <a:sx n="90" d="100"/>
          <a:sy n="90" d="100"/>
        </p:scale>
        <p:origin x="2056" y="2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210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4" name="Text 1"/>
          <p:cNvSpPr/>
          <p:nvPr/>
        </p:nvSpPr>
        <p:spPr>
          <a:xfrm>
            <a:off x="165372" y="2321184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9FAFB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Conformal Risk Control for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9FAFB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Safety-Critical Wildfire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9FAFB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Evacuation Mapping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65372" y="362420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</a:t>
            </a:r>
            <a:r>
              <a:rPr lang="en-US" sz="1200" i="1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Tabular</a:t>
            </a: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Spatial, and Graph-Based Models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6979" y="4146253"/>
            <a:ext cx="3657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7" name="Text 4"/>
          <p:cNvSpPr/>
          <p:nvPr/>
        </p:nvSpPr>
        <p:spPr>
          <a:xfrm>
            <a:off x="-2555132" y="4439703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Baljinnyam Dayan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-1601821" y="475974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College London  |  ELEC70122  |  March 2026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B98D15-E388-F18E-CCF1-C10A23949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72" y="156903"/>
            <a:ext cx="2911837" cy="5763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Kill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 pixel classified as safe means people stay in a burning zone. Standard ML models miss 48–93% of fires at conventional thresholds.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260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Evacuations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40080" y="34747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perimeters cause residents outside the official zone to self-evacuate, congesting roads and trapping those in genuine danger (Zhao et al., 2022).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1" name="Text 7"/>
          <p:cNvSpPr/>
          <p:nvPr/>
        </p:nvSpPr>
        <p:spPr>
          <a:xfrm>
            <a:off x="4846320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92.8%</a:t>
            </a:r>
            <a:endParaRPr lang="en-US" sz="6000" dirty="0"/>
          </a:p>
        </p:txBody>
      </p:sp>
      <p:sp>
        <p:nvSpPr>
          <p:cNvPr id="12" name="Text 8"/>
          <p:cNvSpPr/>
          <p:nvPr/>
        </p:nvSpPr>
        <p:spPr>
          <a:xfrm>
            <a:off x="5029200" y="2651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fires missed by LightGBM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standard threshold (p ≥ 0.5)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61.0%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by U-Net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8580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48.5%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8580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by ResGNN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is safe at p ≥ 0.5.  We need distribution-free guarantees.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Gap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56032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08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ML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5603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work on spread prediction (CNNs, GNNs, U-Nets). All evaluate on accuracy metrics: F1, IoU, AUROC.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06040" cy="256032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74720" y="25603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provides distribution-free safety guarantees. Applied to medical imaging, autonomous driving, NLP.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280160"/>
            <a:ext cx="2606040" cy="256032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5087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Link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263640" y="25603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where false negatives are most dangerous has no formal safety guarantees.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1F2937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17" name="Text 12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application of conformal risk control to wildfire spread prediction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60020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6" name="Text 3"/>
          <p:cNvSpPr/>
          <p:nvPr/>
        </p:nvSpPr>
        <p:spPr>
          <a:xfrm>
            <a:off x="80010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ML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69164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&amp; Coogan (2020) — Review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Radke et al. (2019) — FireCast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Huot et al. (2022) — NDWS dataset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 accuracy metrics only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77640" cy="160020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0" name="Text 6"/>
          <p:cNvSpPr/>
          <p:nvPr/>
        </p:nvSpPr>
        <p:spPr>
          <a:xfrm>
            <a:off x="5011690" y="13310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Methods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37760" y="169164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Vovk et al. (2005) — Foundations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Romano et al. (2020) — Adaptive sets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Angelopoulos et al. (2022) — CRC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applied to geospatial/disaster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4" name="Text 9"/>
          <p:cNvSpPr/>
          <p:nvPr/>
        </p:nvSpPr>
        <p:spPr>
          <a:xfrm>
            <a:off x="80010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UQ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85800" y="352044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et al. (2017) — Miscalibration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(1999) — Platt scaling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finite-sample guarantees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uncertainty only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3017520"/>
            <a:ext cx="3977640" cy="160020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8" name="Text 12"/>
          <p:cNvSpPr/>
          <p:nvPr/>
        </p:nvSpPr>
        <p:spPr>
          <a:xfrm>
            <a:off x="5011690" y="31598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ML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937760" y="352044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Amodei et al. (2016) — AI safety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cost ≫ FP cost in evacuation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guarantees needed, not just empirical perf.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Wildfire: no guarantees until now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4" name="Shape 2"/>
          <p:cNvSpPr/>
          <p:nvPr/>
        </p:nvSpPr>
        <p:spPr>
          <a:xfrm>
            <a:off x="274320" y="1801157"/>
            <a:ext cx="1965960" cy="1541186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6" name="Text 3"/>
          <p:cNvSpPr/>
          <p:nvPr/>
        </p:nvSpPr>
        <p:spPr>
          <a:xfrm>
            <a:off x="365760" y="2011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NDWS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2560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18,545 samples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patches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channels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148840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331720" y="1801157"/>
            <a:ext cx="1965960" cy="1541186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1" name="Text 6"/>
          <p:cNvSpPr/>
          <p:nvPr/>
        </p:nvSpPr>
        <p:spPr>
          <a:xfrm>
            <a:off x="2423160" y="2011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2423160" y="2560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U-Net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ResGNN-UNet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14884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389120" y="1801157"/>
            <a:ext cx="1965960" cy="1541186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6" name="Text 9"/>
          <p:cNvSpPr/>
          <p:nvPr/>
        </p:nvSpPr>
        <p:spPr>
          <a:xfrm>
            <a:off x="4480560" y="2011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480560" y="2560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FNR ≤ 0.05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Distribution-free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Finite-sample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48840"/>
            <a:ext cx="320040" cy="32004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446520" y="1801157"/>
            <a:ext cx="1965960" cy="1541186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21" name="Text 12"/>
          <p:cNvSpPr/>
          <p:nvPr/>
        </p:nvSpPr>
        <p:spPr>
          <a:xfrm>
            <a:off x="6537960" y="2011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6537960" y="2560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 coverage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zones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triage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40080" y="4160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splits (seed 42, 70/15/15) — calibration set never used in training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+ splits across all models — fair architectural comparison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applied uniformly post-hoc — model-agnostic safety wrapper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CRC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predicted probabilities on held-out calibration 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probabilities of true fire pixels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α-quantile as threshold λ̂ (the "safety cutoff") and Apply </a:t>
            </a:r>
            <a:r>
              <a:rPr lang="en-US" sz="130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̂ unchanged to test data → guaranteed FNR ≤ α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8" name="Text 16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E[FNR(λ̂)] ≤ α = 0.05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3776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regardless of model quality, calibration, or architecture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3931920" cy="137160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97180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34924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937760" y="3383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decouples safety from efficiency.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→ evacuation zone size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→ fire coverage guarantee</a:t>
            </a:r>
            <a:endParaRPr lang="en-US" sz="1300" dirty="0"/>
          </a:p>
        </p:txBody>
      </p:sp>
      <p:pic>
        <p:nvPicPr>
          <p:cNvPr id="25" name="Image 1" descr="/Users/artisan/coding/fire/figures/fnr_swee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383280"/>
            <a:ext cx="3840480" cy="1600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389120" y="4297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FNR vs. threshold: U-Net stays safe over a much wider range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 Families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338328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Baseline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features (12 channels)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treated independently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pixel subsampling for memory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objective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1299" y="1435608"/>
            <a:ext cx="1737360" cy="41148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11" name="Text 8"/>
          <p:cNvSpPr/>
          <p:nvPr/>
        </p:nvSpPr>
        <p:spPr>
          <a:xfrm>
            <a:off x="751299" y="14356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AUROC 0.854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108960" y="1143000"/>
            <a:ext cx="2651760" cy="338328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3" name="Shape 10"/>
          <p:cNvSpPr/>
          <p:nvPr/>
        </p:nvSpPr>
        <p:spPr>
          <a:xfrm>
            <a:off x="3108960" y="114300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15" name="Text 11"/>
          <p:cNvSpPr/>
          <p:nvPr/>
        </p:nvSpPr>
        <p:spPr>
          <a:xfrm>
            <a:off x="324612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U-Net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24612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CNN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291840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470K parameters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encoder + 2 decoder blocks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connections, 1×1 conv head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cosine annealing, 50 epochs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566160" y="1435608"/>
            <a:ext cx="1737360" cy="41148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MN" dirty="0"/>
          </a:p>
        </p:txBody>
      </p:sp>
      <p:sp>
        <p:nvSpPr>
          <p:cNvPr id="19" name="Text 15"/>
          <p:cNvSpPr/>
          <p:nvPr/>
        </p:nvSpPr>
        <p:spPr>
          <a:xfrm>
            <a:off x="3566160" y="14356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AUROC 0.969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897880" y="1143000"/>
            <a:ext cx="2651760" cy="338328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21" name="Shape 17"/>
          <p:cNvSpPr/>
          <p:nvPr/>
        </p:nvSpPr>
        <p:spPr>
          <a:xfrm>
            <a:off x="5897880" y="114300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23" name="Text 18"/>
          <p:cNvSpPr/>
          <p:nvPr/>
        </p:nvSpPr>
        <p:spPr>
          <a:xfrm>
            <a:off x="60350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ResGNN-UNet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03504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CNN Hybrid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080760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229K parameters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encoder → GAT bottleneck → decoder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GATConv layers, 4 heads each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Early-stopped at epoch 12/25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368050" y="1435608"/>
            <a:ext cx="1737360" cy="41148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27" name="Text 22"/>
          <p:cNvSpPr/>
          <p:nvPr/>
        </p:nvSpPr>
        <p:spPr>
          <a:xfrm>
            <a:off x="6368050" y="14356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AUROC 0.951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complexity: pixel-independent → local spatial → graph propagation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CRC Extension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46304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 &lt; λ_min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146304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λ_min ≤ p̂ &lt; λ_max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06040" cy="146304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16" name="Text 14"/>
          <p:cNvSpPr/>
          <p:nvPr/>
        </p:nvSpPr>
        <p:spPr>
          <a:xfrm>
            <a:off x="6126480" y="1371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EVACUATE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1783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 ≥ λ_max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evacuation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691640"/>
            <a:ext cx="228600" cy="228600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69164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720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Parameters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40080" y="3291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c_fn = 5 (missed fire cost) vs c_fp = 1 (false alarm cost)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Asymmetric: missing fire risks lives; over-alerting causes logistics issues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interval ρ ∈ [0.9, 1.1] for mild prevalence variation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1F293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4340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425196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uncertain pixels to human review instead of forcing binary automated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Standard Thresholds Fail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N"/>
          </a:p>
        </p:txBody>
      </p:sp>
      <p:pic>
        <p:nvPicPr>
          <p:cNvPr id="4" name="Image 0" descr="/Users/artisan/coding/fire/figures/probability_cross_sec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859536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cross-section through a U-Net prediction. Standard threshold (p ≥ 0.5, gray) misses most of the fire region. CRC threshold (λ̂ = 0.002, green) captures it entirely.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CRC Delivers Safety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315200" cy="199339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FNR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Size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LGBM (p≥0.5)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LGBM + CRC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(p≥0.5)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+ CRC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ResGNN (p≥0.5)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3840480" cy="100584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4.2×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828800" y="3931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evacuation zones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vs LightGBM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same safety guarantee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3886200"/>
            <a:ext cx="3840480" cy="100584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9" name="Text 6"/>
          <p:cNvSpPr/>
          <p:nvPr/>
        </p:nvSpPr>
        <p:spPr>
          <a:xfrm>
            <a:off x="4846320" y="3931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95%+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217920" y="3931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coverage achieved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both models with CRC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vs. After CRC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pic>
        <p:nvPicPr>
          <p:cNvPr id="4" name="Image 0" descr="/Users/artisan/coding/fire/figures/before_after_cr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85800"/>
            <a:ext cx="8778240" cy="4457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493524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threshold: 34–100% fires missed  →  CRC: 0–2% fires missed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Finding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1F2937"/>
          </a:solidFill>
          <a:ln w="190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determines evacuation efficiency.  CRC determines safety.</a:t>
            </a:r>
            <a:endParaRPr lang="en-US" sz="1800" dirty="0"/>
          </a:p>
        </p:txBody>
      </p:sp>
      <p:pic>
        <p:nvPicPr>
          <p:cNvPr id="6" name="Image 0" descr="/Users/artisan/coding/fire/figures/three_model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737360"/>
            <a:ext cx="859536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≠ better separation: ResGNN-UNet (229K, graph attention) achieves lower AUROC than Tiny U-Net (470K, standard conv) on 64×64 patches.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Zone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N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1521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EVACUATE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606040"/>
            <a:ext cx="8229600" cy="201168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27432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 Zone Collapses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31520" y="3246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~5% fire prevalence: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B_pw = max(5 × 0.05, 1 × 0.95) = 0.95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majority-class term c_fp · π₀. The shift correction exceeds the CRC threshold, pushing λ_min below zero. All non-evacuated pixels routed to human review.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limitation of prevalence-weighted bounds in rare-event regimes (π₀ ≫ π₁)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CRC Deep Dive: Same Model, Different Thresholds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pic>
        <p:nvPicPr>
          <p:cNvPr id="4" name="Image 0" descr="/Users/artisan/coding/fire/figures/crc_deep_di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68680"/>
            <a:ext cx="877824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thresholding (p ≥ 0.5) catches 56% of fires. CRC (λ̂ = 0.002) catches 100%. Green shading marks pixels saved by CRC.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5" name="Shape 3"/>
          <p:cNvSpPr/>
          <p:nvPr/>
        </p:nvSpPr>
        <p:spPr>
          <a:xfrm>
            <a:off x="640080" y="1298448"/>
            <a:ext cx="420624" cy="42062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is safe without CRC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thresholding captures only 7–52% of fires across all architectures.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11" name="Text 9"/>
          <p:cNvSpPr/>
          <p:nvPr/>
        </p:nvSpPr>
        <p:spPr>
          <a:xfrm>
            <a:off x="640080" y="2167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0574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guarantees safety regardless of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377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calibrated models achieve ≥94% coverage on held-out test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15" name="Shape 13"/>
          <p:cNvSpPr/>
          <p:nvPr/>
        </p:nvSpPr>
        <p:spPr>
          <a:xfrm>
            <a:off x="640080" y="3035808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16" name="Text 14"/>
          <p:cNvSpPr/>
          <p:nvPr/>
        </p:nvSpPr>
        <p:spPr>
          <a:xfrm>
            <a:off x="64008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determines efficiency, not safety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U-Net achieves 4.2× tighter evacuation zones than LightGBM under identical CRC guarantee.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sp>
        <p:nvSpPr>
          <p:cNvPr id="20" name="Shape 18"/>
          <p:cNvSpPr/>
          <p:nvPr/>
        </p:nvSpPr>
        <p:spPr>
          <a:xfrm>
            <a:off x="640080" y="3904488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21" name="Text 19"/>
          <p:cNvSpPr/>
          <p:nvPr/>
        </p:nvSpPr>
        <p:spPr>
          <a:xfrm>
            <a:off x="640080" y="3904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794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without separation is waste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1148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Graph-augmented ResGNN-UNet underperforms standard U-Net in AUROC despite more complex architecture.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model + CRC provides stronger safety AND tighter zones than a complex model evaluated on F1 alone.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146304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Class-Conditional CRC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each zone boundary independently (FNR-CRC for λ_max, FPR-CRC for λ_min) to resolve SAFE zone collapse under imbalance.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143000"/>
            <a:ext cx="3977640" cy="146304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Image-Level CRC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92040" y="169164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pixel-pooled to per-image FNR losses. Restores theoretical exchangeability, produces operationally meaningful per-image guarantees.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2834640"/>
            <a:ext cx="3977640" cy="146304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718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AUROC–Efficiency Formalization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0080" y="33832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closed-form relationship between model discrimination and evacuation cost. Answer: what AUROC for a target zone size?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09160" y="2834640"/>
            <a:ext cx="3977640" cy="1463040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718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Geographic Shift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892040" y="33832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CRC robustness under seasonal/climate shift using temporally stratified splits and multi-region datasets.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N"/>
          </a:p>
        </p:txBody>
      </p:sp>
      <p:sp>
        <p:nvSpPr>
          <p:cNvPr id="4" name="Text 1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MN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Baljinnyam Dayan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baljinnyam.dayan25@imperial.ac.uk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908" y="43434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68948" y="4343400"/>
            <a:ext cx="33745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github.com/baljinnyamday/wildfire-evacuation-crc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1285</Words>
  <Application>Microsoft Macintosh PowerPoint</Application>
  <PresentationFormat>On-screen Show (16:9)</PresentationFormat>
  <Paragraphs>251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Conformal Risk Control for Safety-Critical Wildfire Evacuation Mapping</dc:title>
  <dc:subject>PptxGenJS Presentation</dc:subject>
  <dc:creator>Baljinnyam Dayan</dc:creator>
  <cp:lastModifiedBy>Dayan, Baljinnyam</cp:lastModifiedBy>
  <cp:revision>2</cp:revision>
  <dcterms:created xsi:type="dcterms:W3CDTF">2026-03-18T23:44:48Z</dcterms:created>
  <dcterms:modified xsi:type="dcterms:W3CDTF">2026-03-18T23:59:27Z</dcterms:modified>
</cp:coreProperties>
</file>